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/Relationships>

</file>

<file path=ppt/slides/_rels/slide1.xml.rels><?xml version="1.0" encoding="UTF-8" standalone="yes"?>
<Relationships xmlns="http://schemas.openxmlformats.org/package/2006/relationships"/>

</file>

<file path=ppt/slides/_rels/slide2.xml.rels><?xml version="1.0" encoding="UTF-8" standalone="yes"?>
<Relationships xmlns="http://schemas.openxmlformats.org/package/2006/relationships"/>

</file>

<file path=ppt/slides/_rels/slide3.xml.rels><?xml version="1.0" encoding="UTF-8" standalone="yes"?>
<Relationships xmlns="http://schemas.openxmlformats.org/package/2006/relationships"/>

</file>

<file path=ppt/slides/_rels/slide4.xml.rels><?xml version="1.0" encoding="UTF-8" standalone="yes"?>
<Relationships xmlns="http://schemas.openxmlformats.org/package/2006/relationships"/>

</file>

<file path=ppt/slides/_rels/slide5.xml.rels><?xml version="1.0" encoding="UTF-8" standalone="yes"?>
<Relationships xmlns="http://schemas.openxmlformats.org/package/2006/relationships"/>

</file>

<file path=ppt/slides/_rels/slide6.xml.rels><?xml version="1.0" encoding="UTF-8" standalone="yes"?>
<Relationships xmlns="http://schemas.openxmlformats.org/package/2006/relationships"/>

</file>

<file path=ppt/slides/_rels/slide7.xml.rels><?xml version="1.0" encoding="UTF-8" standalone="yes"?>
<Relationships xmlns="http://schemas.openxmlformats.org/package/2006/relationships"/>

</file>

<file path=ppt/slides/_rels/slide8.xml.rels><?xml version="1.0" encoding="UTF-8" standalone="yes"?>
<Relationships xmlns="http://schemas.openxmlformats.org/package/2006/relationships"/>

</file>

<file path=ppt/slides/_rels/slide9.xml.rels><?xml version="1.0" encoding="UTF-8" standalone="yes"?>
<Relationships xmlns="http://schemas.openxmlformats.org/package/2006/relationships"/>

</file>

<file path=ppt/slides/_rels/slide10.xml.rels><?xml version="1.0" encoding="UTF-8" standalone="yes"?>
<Relationships xmlns="http://schemas.openxmlformats.org/package/2006/relationships"/>

</file>

<file path=ppt/slides/_rels/slide11.xml.rels><?xml version="1.0" encoding="UTF-8" standalone="yes"?>
<Relationships xmlns="http://schemas.openxmlformats.org/package/2006/relationships"/>

</file>

<file path=ppt/slides/_rels/slide12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0" y="5980000"/>
            <a:ext cx="13333333" cy="26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Deck Title"/>
          <p:cNvSpPr txBox="1"/>
          <p:nvPr/>
        </p:nvSpPr>
        <p:spPr>
          <a:xfrm>
            <a:off x="720000" y="1780000"/>
            <a:ext cx="11600000" cy="9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4400" b="1">
                <a:solidFill>
                  <a:srgbClr val="FFFFFF"/>
                </a:solidFill>
              </a:rPr>
              <a:t>Source-Aware Belief Revision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60000" y="290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300">
                <a:solidFill>
                  <a:srgbClr val="DDF7F1"/>
                </a:solidFill>
              </a:rPr>
              <a:t>A stage report on incremental reasoning, CIPC training, and the preserve-vs-revise trade-off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760000" y="6320000"/>
            <a:ext cx="6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600">
                <a:solidFill>
                  <a:srgbClr val="D7DEE8"/>
                </a:solidFill>
              </a:rPr>
              <a:t>Advisor update | 2026-04-20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Large language models often receive information incrementally rather than all at once.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A model may form an early commitment, then receive new evidence that either preserves or changes it.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The central capability is not only answering correctly, but maintaining and updating commitments reliably.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Belief-R gives us a controlled setting for suppression-style, non-monotonic reasoning.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We study whether models can decide when to keep an early belief and when to revise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Real multi-turn reasoning needs stable state management across evidence updates.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Models often fail in two opposite ways: over-preserve early commitments or over-revise on harmless updates.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Prompting alone exposed the failure mode but did not solve the trade-off.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A trainable commitment-control formulation lets us supervise both the update decision and the final answer.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The goal is calibrated preserve-vs-revise control: revise when needed, preserve when justified.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Related Work Positioning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90000" y="1250000"/>
            <a:ext cx="5700000" cy="485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6930000" y="1250000"/>
            <a:ext cx="5700000" cy="485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8" name="Left Title"/>
          <p:cNvSpPr txBox="1"/>
          <p:nvPr/>
        </p:nvSpPr>
        <p:spPr>
          <a:xfrm>
            <a:off x="900000" y="1440000"/>
            <a:ext cx="5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200" b="1">
                <a:solidFill>
                  <a:srgbClr val="0F766E"/>
                </a:solidFill>
              </a:rPr>
              <a:t>Conceptual roots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880000" y="1980000"/>
            <a:ext cx="515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Belief revision and non-monotonic reasoning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Suppression tasks and Belief-R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Incremental and multi-turn reasoning</a:t>
            </a:r>
          </a:p>
        </p:txBody>
      </p:sp>
      <p:sp>
        <p:nvSpPr>
          <p:cNvPr id="10" name="Right Title"/>
          <p:cNvSpPr txBox="1"/>
          <p:nvPr/>
        </p:nvSpPr>
        <p:spPr>
          <a:xfrm>
            <a:off x="7140000" y="1440000"/>
            <a:ext cx="5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200" b="1">
                <a:solidFill>
                  <a:srgbClr val="0F766E"/>
                </a:solidFill>
              </a:rPr>
              <a:t>Methodological context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7120000" y="1980000"/>
            <a:ext cx="515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Source-aware reasoning and provenance tracking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Prompt-based revision policies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Fine-tuning with control-oriented supervision</a:t>
            </a:r>
          </a:p>
        </p:txBody>
      </p:sp>
      <p:sp>
        <p:nvSpPr>
          <p:cNvPr id="12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Our project connects classic belief revision with trainable LLM commitment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Main Contributions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Reframed Belief-R as an incremental source-aware belief revision problem.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Built a deterministic commitment-control dataset with preserve/replace and final-answer labels.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Implemented CIPC: Commitment Integration and Propagation Control.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Built NumPy and HF/LoRA training pipelines on a fixed Belief-R split.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Isolated a reproducible preserve-vs-revise trade-off in the loss geometry.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The project has moved from diagnostic prompting to trainable method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Task Formulation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760000" y="2350000"/>
            <a:ext cx="2420000" cy="108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7" name="Node Title"/>
          <p:cNvSpPr txBox="1"/>
          <p:nvPr/>
        </p:nvSpPr>
        <p:spPr>
          <a:xfrm>
            <a:off x="860000" y="2495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2000" b="1">
                <a:solidFill>
                  <a:srgbClr val="203A43"/>
                </a:solidFill>
              </a:rPr>
              <a:t>Early evidence</a:t>
            </a:r>
          </a:p>
        </p:txBody>
      </p:sp>
      <p:sp>
        <p:nvSpPr>
          <p:cNvPr id="8" name="Node Desc"/>
          <p:cNvSpPr txBox="1"/>
          <p:nvPr/>
        </p:nvSpPr>
        <p:spPr>
          <a:xfrm>
            <a:off x="900000" y="2910000"/>
            <a:ext cx="21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52606D"/>
                </a:solidFill>
              </a:rPr>
              <a:t>forms commitment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3180000" y="2890000"/>
            <a:ext cx="720000" cy="0"/>
          </a:xfrm>
          <a:prstGeom prst="line">
            <a:avLst/>
          </a:prstGeom>
          <a:ln w="26000" cap="rnd">
            <a:solidFill>
              <a:srgbClr val="0F766E"/>
            </a:solidFill>
            <a:tailEnd type="triangle"/>
          </a:ln>
        </p:spPr>
      </p:cxnSp>
      <p:sp>
        <p:nvSpPr>
          <p:cNvPr id="10" name="Shape"/>
          <p:cNvSpPr/>
          <p:nvPr/>
        </p:nvSpPr>
        <p:spPr>
          <a:xfrm>
            <a:off x="3900000" y="2350000"/>
            <a:ext cx="2420000" cy="108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Node Title"/>
          <p:cNvSpPr txBox="1"/>
          <p:nvPr/>
        </p:nvSpPr>
        <p:spPr>
          <a:xfrm>
            <a:off x="4000000" y="2495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2000" b="1">
                <a:solidFill>
                  <a:srgbClr val="203A43"/>
                </a:solidFill>
              </a:rPr>
              <a:t>New evidence</a:t>
            </a:r>
          </a:p>
        </p:txBody>
      </p:sp>
      <p:sp>
        <p:nvSpPr>
          <p:cNvPr id="12" name="Node Desc"/>
          <p:cNvSpPr txBox="1"/>
          <p:nvPr/>
        </p:nvSpPr>
        <p:spPr>
          <a:xfrm>
            <a:off x="4040000" y="2910000"/>
            <a:ext cx="21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52606D"/>
                </a:solidFill>
              </a:rPr>
              <a:t>semantic role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6320000" y="2890000"/>
            <a:ext cx="720000" cy="0"/>
          </a:xfrm>
          <a:prstGeom prst="line">
            <a:avLst/>
          </a:prstGeom>
          <a:ln w="26000" cap="rnd">
            <a:solidFill>
              <a:srgbClr val="0F766E"/>
            </a:solidFill>
            <a:tailEnd type="triangle"/>
          </a:ln>
        </p:spPr>
      </p:cxnSp>
      <p:sp>
        <p:nvSpPr>
          <p:cNvPr id="14" name="Shape"/>
          <p:cNvSpPr/>
          <p:nvPr/>
        </p:nvSpPr>
        <p:spPr>
          <a:xfrm>
            <a:off x="7040000" y="2350000"/>
            <a:ext cx="2420000" cy="108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5" name="Node Title"/>
          <p:cNvSpPr txBox="1"/>
          <p:nvPr/>
        </p:nvSpPr>
        <p:spPr>
          <a:xfrm>
            <a:off x="7140000" y="2495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2000" b="1">
                <a:solidFill>
                  <a:srgbClr val="203A43"/>
                </a:solidFill>
              </a:rPr>
              <a:t>Control decision</a:t>
            </a:r>
          </a:p>
        </p:txBody>
      </p:sp>
      <p:sp>
        <p:nvSpPr>
          <p:cNvPr id="16" name="Node Desc"/>
          <p:cNvSpPr txBox="1"/>
          <p:nvPr/>
        </p:nvSpPr>
        <p:spPr>
          <a:xfrm>
            <a:off x="7180000" y="2910000"/>
            <a:ext cx="21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52606D"/>
                </a:solidFill>
              </a:rPr>
              <a:t>preserve / replace</a:t>
            </a:r>
          </a:p>
        </p:txBody>
      </p:sp>
      <p:cxnSp>
        <p:nvCxnSpPr>
          <p:cNvPr id="17" name="Connector"/>
          <p:cNvCxnSpPr/>
          <p:nvPr/>
        </p:nvCxnSpPr>
        <p:spPr>
          <a:xfrm>
            <a:off x="9460000" y="2890000"/>
            <a:ext cx="720000" cy="0"/>
          </a:xfrm>
          <a:prstGeom prst="line">
            <a:avLst/>
          </a:prstGeom>
          <a:ln w="26000" cap="rnd">
            <a:solidFill>
              <a:srgbClr val="0F766E"/>
            </a:solidFill>
            <a:tailEnd type="triangle"/>
          </a:ln>
        </p:spPr>
      </p:cxnSp>
      <p:sp>
        <p:nvSpPr>
          <p:cNvPr id="18" name="Shape"/>
          <p:cNvSpPr/>
          <p:nvPr/>
        </p:nvSpPr>
        <p:spPr>
          <a:xfrm>
            <a:off x="10180000" y="2350000"/>
            <a:ext cx="2420000" cy="108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9" name="Node Title"/>
          <p:cNvSpPr txBox="1"/>
          <p:nvPr/>
        </p:nvSpPr>
        <p:spPr>
          <a:xfrm>
            <a:off x="10280000" y="2495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2000" b="1">
                <a:solidFill>
                  <a:srgbClr val="203A43"/>
                </a:solidFill>
              </a:rPr>
              <a:t>Final answer</a:t>
            </a:r>
          </a:p>
        </p:txBody>
      </p:sp>
      <p:sp>
        <p:nvSpPr>
          <p:cNvPr id="20" name="Node Desc"/>
          <p:cNvSpPr txBox="1"/>
          <p:nvPr/>
        </p:nvSpPr>
        <p:spPr>
          <a:xfrm>
            <a:off x="10320000" y="2910000"/>
            <a:ext cx="21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52606D"/>
                </a:solidFill>
              </a:rPr>
              <a:t>a / b / c</a:t>
            </a:r>
          </a:p>
        </p:txBody>
      </p:sp>
      <p:sp>
        <p:nvSpPr>
          <p:cNvPr id="21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We evaluate both integration control and answer propagation.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Experiment Design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Dataset: Belief-R strong paired subset converted to commitment-control format.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Split sizes: train 2050, dev 254, test 260.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Conditions: full_info, incremental_no_overturn, incremental_overturn_reasoning.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Models: prompt baselines, NumPy CIPC, HF/LoRA CIPC with Qwen2.5-0.5B-Instruct, direct API baselines.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Metrics: answer accuracy, control accuracy, joint accuracy, early persistence, late evidence takeover.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The design separates whether the model chose the right update policy from whether it propagated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Key Completed Results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30000" y="1380000"/>
            <a:ext cx="445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Cell"/>
          <p:cNvSpPr txBox="1"/>
          <p:nvPr/>
        </p:nvSpPr>
        <p:spPr>
          <a:xfrm>
            <a:off x="670000" y="142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Shape"/>
          <p:cNvSpPr/>
          <p:nvPr/>
        </p:nvSpPr>
        <p:spPr>
          <a:xfrm>
            <a:off x="5080000" y="1380000"/>
            <a:ext cx="239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Cell"/>
          <p:cNvSpPr txBox="1"/>
          <p:nvPr/>
        </p:nvSpPr>
        <p:spPr>
          <a:xfrm>
            <a:off x="5120000" y="14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10" name="Shape"/>
          <p:cNvSpPr/>
          <p:nvPr/>
        </p:nvSpPr>
        <p:spPr>
          <a:xfrm>
            <a:off x="7470000" y="1380000"/>
            <a:ext cx="239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Cell"/>
          <p:cNvSpPr txBox="1"/>
          <p:nvPr/>
        </p:nvSpPr>
        <p:spPr>
          <a:xfrm>
            <a:off x="7510000" y="14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Overturn</a:t>
            </a:r>
          </a:p>
        </p:txBody>
      </p:sp>
      <p:sp>
        <p:nvSpPr>
          <p:cNvPr id="12" name="Shape"/>
          <p:cNvSpPr/>
          <p:nvPr/>
        </p:nvSpPr>
        <p:spPr>
          <a:xfrm>
            <a:off x="9860000" y="1380000"/>
            <a:ext cx="285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Cell"/>
          <p:cNvSpPr txBox="1"/>
          <p:nvPr/>
        </p:nvSpPr>
        <p:spPr>
          <a:xfrm>
            <a:off x="9900000" y="142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No-overturn</a:t>
            </a:r>
          </a:p>
        </p:txBody>
      </p:sp>
      <p:sp>
        <p:nvSpPr>
          <p:cNvPr id="14" name="Shape"/>
          <p:cNvSpPr/>
          <p:nvPr/>
        </p:nvSpPr>
        <p:spPr>
          <a:xfrm>
            <a:off x="630000" y="1920000"/>
            <a:ext cx="44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ell"/>
          <p:cNvSpPr txBox="1"/>
          <p:nvPr/>
        </p:nvSpPr>
        <p:spPr>
          <a:xfrm>
            <a:off x="670000" y="196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Direct OpenAI gpt-5.4-mini</a:t>
            </a:r>
          </a:p>
        </p:txBody>
      </p:sp>
      <p:sp>
        <p:nvSpPr>
          <p:cNvPr id="16" name="Shape"/>
          <p:cNvSpPr/>
          <p:nvPr/>
        </p:nvSpPr>
        <p:spPr>
          <a:xfrm>
            <a:off x="5080000" y="192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Cell"/>
          <p:cNvSpPr txBox="1"/>
          <p:nvPr/>
        </p:nvSpPr>
        <p:spPr>
          <a:xfrm>
            <a:off x="5120000" y="19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0.2077</a:t>
            </a:r>
          </a:p>
        </p:txBody>
      </p:sp>
      <p:sp>
        <p:nvSpPr>
          <p:cNvPr id="18" name="Shape"/>
          <p:cNvSpPr/>
          <p:nvPr/>
        </p:nvSpPr>
        <p:spPr>
          <a:xfrm>
            <a:off x="7470000" y="192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Cell"/>
          <p:cNvSpPr txBox="1"/>
          <p:nvPr/>
        </p:nvSpPr>
        <p:spPr>
          <a:xfrm>
            <a:off x="7510000" y="19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0.0000</a:t>
            </a:r>
          </a:p>
        </p:txBody>
      </p:sp>
      <p:sp>
        <p:nvSpPr>
          <p:cNvPr id="20" name="Shape"/>
          <p:cNvSpPr/>
          <p:nvPr/>
        </p:nvSpPr>
        <p:spPr>
          <a:xfrm>
            <a:off x="9860000" y="1920000"/>
            <a:ext cx="28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Cell"/>
          <p:cNvSpPr txBox="1"/>
          <p:nvPr/>
        </p:nvSpPr>
        <p:spPr>
          <a:xfrm>
            <a:off x="9900000" y="196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1.0000</a:t>
            </a:r>
          </a:p>
        </p:txBody>
      </p:sp>
      <p:sp>
        <p:nvSpPr>
          <p:cNvPr id="22" name="Shape"/>
          <p:cNvSpPr/>
          <p:nvPr/>
        </p:nvSpPr>
        <p:spPr>
          <a:xfrm>
            <a:off x="630000" y="2460000"/>
            <a:ext cx="44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Cell"/>
          <p:cNvSpPr txBox="1"/>
          <p:nvPr/>
        </p:nvSpPr>
        <p:spPr>
          <a:xfrm>
            <a:off x="670000" y="250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Direct DeepSeek chat</a:t>
            </a:r>
          </a:p>
        </p:txBody>
      </p:sp>
      <p:sp>
        <p:nvSpPr>
          <p:cNvPr id="24" name="Shape"/>
          <p:cNvSpPr/>
          <p:nvPr/>
        </p:nvSpPr>
        <p:spPr>
          <a:xfrm>
            <a:off x="5080000" y="246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Cell"/>
          <p:cNvSpPr txBox="1"/>
          <p:nvPr/>
        </p:nvSpPr>
        <p:spPr>
          <a:xfrm>
            <a:off x="5120000" y="250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0.2192</a:t>
            </a:r>
          </a:p>
        </p:txBody>
      </p:sp>
      <p:sp>
        <p:nvSpPr>
          <p:cNvPr id="26" name="Shape"/>
          <p:cNvSpPr/>
          <p:nvPr/>
        </p:nvSpPr>
        <p:spPr>
          <a:xfrm>
            <a:off x="7470000" y="246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Cell"/>
          <p:cNvSpPr txBox="1"/>
          <p:nvPr/>
        </p:nvSpPr>
        <p:spPr>
          <a:xfrm>
            <a:off x="7510000" y="250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0.0097</a:t>
            </a:r>
          </a:p>
        </p:txBody>
      </p:sp>
      <p:sp>
        <p:nvSpPr>
          <p:cNvPr id="28" name="Shape"/>
          <p:cNvSpPr/>
          <p:nvPr/>
        </p:nvSpPr>
        <p:spPr>
          <a:xfrm>
            <a:off x="9860000" y="2460000"/>
            <a:ext cx="28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Cell"/>
          <p:cNvSpPr txBox="1"/>
          <p:nvPr/>
        </p:nvSpPr>
        <p:spPr>
          <a:xfrm>
            <a:off x="9900000" y="250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1.0000</a:t>
            </a:r>
          </a:p>
        </p:txBody>
      </p:sp>
      <p:sp>
        <p:nvSpPr>
          <p:cNvPr id="30" name="Shape"/>
          <p:cNvSpPr/>
          <p:nvPr/>
        </p:nvSpPr>
        <p:spPr>
          <a:xfrm>
            <a:off x="630000" y="3000000"/>
            <a:ext cx="44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Cell"/>
          <p:cNvSpPr txBox="1"/>
          <p:nvPr/>
        </p:nvSpPr>
        <p:spPr>
          <a:xfrm>
            <a:off x="670000" y="304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Frozen prompt baseline</a:t>
            </a:r>
          </a:p>
        </p:txBody>
      </p:sp>
      <p:sp>
        <p:nvSpPr>
          <p:cNvPr id="32" name="Shape"/>
          <p:cNvSpPr/>
          <p:nvPr/>
        </p:nvSpPr>
        <p:spPr>
          <a:xfrm>
            <a:off x="5080000" y="300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Cell"/>
          <p:cNvSpPr txBox="1"/>
          <p:nvPr/>
        </p:nvSpPr>
        <p:spPr>
          <a:xfrm>
            <a:off x="5120000" y="304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0.3615</a:t>
            </a:r>
          </a:p>
        </p:txBody>
      </p:sp>
      <p:sp>
        <p:nvSpPr>
          <p:cNvPr id="34" name="Shape"/>
          <p:cNvSpPr/>
          <p:nvPr/>
        </p:nvSpPr>
        <p:spPr>
          <a:xfrm>
            <a:off x="7470000" y="300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Cell"/>
          <p:cNvSpPr txBox="1"/>
          <p:nvPr/>
        </p:nvSpPr>
        <p:spPr>
          <a:xfrm>
            <a:off x="7510000" y="304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0.2718</a:t>
            </a:r>
          </a:p>
        </p:txBody>
      </p:sp>
      <p:sp>
        <p:nvSpPr>
          <p:cNvPr id="36" name="Shape"/>
          <p:cNvSpPr/>
          <p:nvPr/>
        </p:nvSpPr>
        <p:spPr>
          <a:xfrm>
            <a:off x="9860000" y="3000000"/>
            <a:ext cx="28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Cell"/>
          <p:cNvSpPr txBox="1"/>
          <p:nvPr/>
        </p:nvSpPr>
        <p:spPr>
          <a:xfrm>
            <a:off x="9900000" y="304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0.5926</a:t>
            </a:r>
          </a:p>
        </p:txBody>
      </p:sp>
      <p:sp>
        <p:nvSpPr>
          <p:cNvPr id="38" name="Shape"/>
          <p:cNvSpPr/>
          <p:nvPr/>
        </p:nvSpPr>
        <p:spPr>
          <a:xfrm>
            <a:off x="630000" y="3540000"/>
            <a:ext cx="44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Cell"/>
          <p:cNvSpPr txBox="1"/>
          <p:nvPr/>
        </p:nvSpPr>
        <p:spPr>
          <a:xfrm>
            <a:off x="670000" y="358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NumPy CIPC baseline</a:t>
            </a:r>
          </a:p>
        </p:txBody>
      </p:sp>
      <p:sp>
        <p:nvSpPr>
          <p:cNvPr id="40" name="Shape"/>
          <p:cNvSpPr/>
          <p:nvPr/>
        </p:nvSpPr>
        <p:spPr>
          <a:xfrm>
            <a:off x="5080000" y="354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Cell"/>
          <p:cNvSpPr txBox="1"/>
          <p:nvPr/>
        </p:nvSpPr>
        <p:spPr>
          <a:xfrm>
            <a:off x="5120000" y="358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0.7846</a:t>
            </a:r>
          </a:p>
        </p:txBody>
      </p:sp>
      <p:sp>
        <p:nvSpPr>
          <p:cNvPr id="42" name="Shape"/>
          <p:cNvSpPr/>
          <p:nvPr/>
        </p:nvSpPr>
        <p:spPr>
          <a:xfrm>
            <a:off x="7470000" y="354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Cell"/>
          <p:cNvSpPr txBox="1"/>
          <p:nvPr/>
        </p:nvSpPr>
        <p:spPr>
          <a:xfrm>
            <a:off x="7510000" y="358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0.7961</a:t>
            </a:r>
          </a:p>
        </p:txBody>
      </p:sp>
      <p:sp>
        <p:nvSpPr>
          <p:cNvPr id="44" name="Shape"/>
          <p:cNvSpPr/>
          <p:nvPr/>
        </p:nvSpPr>
        <p:spPr>
          <a:xfrm>
            <a:off x="9860000" y="3540000"/>
            <a:ext cx="28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Cell"/>
          <p:cNvSpPr txBox="1"/>
          <p:nvPr/>
        </p:nvSpPr>
        <p:spPr>
          <a:xfrm>
            <a:off x="9900000" y="358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0.9259</a:t>
            </a:r>
          </a:p>
        </p:txBody>
      </p:sp>
      <p:sp>
        <p:nvSpPr>
          <p:cNvPr id="46" name="Shape"/>
          <p:cNvSpPr/>
          <p:nvPr/>
        </p:nvSpPr>
        <p:spPr>
          <a:xfrm>
            <a:off x="630000" y="4080000"/>
            <a:ext cx="44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7" name="Cell"/>
          <p:cNvSpPr txBox="1"/>
          <p:nvPr/>
        </p:nvSpPr>
        <p:spPr>
          <a:xfrm>
            <a:off x="670000" y="412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HF local highrank v1</a:t>
            </a:r>
          </a:p>
        </p:txBody>
      </p:sp>
      <p:sp>
        <p:nvSpPr>
          <p:cNvPr id="48" name="Shape"/>
          <p:cNvSpPr/>
          <p:nvPr/>
        </p:nvSpPr>
        <p:spPr>
          <a:xfrm>
            <a:off x="5080000" y="408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9" name="Cell"/>
          <p:cNvSpPr txBox="1"/>
          <p:nvPr/>
        </p:nvSpPr>
        <p:spPr>
          <a:xfrm>
            <a:off x="5120000" y="41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0.8462</a:t>
            </a:r>
          </a:p>
        </p:txBody>
      </p:sp>
      <p:sp>
        <p:nvSpPr>
          <p:cNvPr id="50" name="Shape"/>
          <p:cNvSpPr/>
          <p:nvPr/>
        </p:nvSpPr>
        <p:spPr>
          <a:xfrm>
            <a:off x="7470000" y="408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1" name="Cell"/>
          <p:cNvSpPr txBox="1"/>
          <p:nvPr/>
        </p:nvSpPr>
        <p:spPr>
          <a:xfrm>
            <a:off x="7510000" y="41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0.8641</a:t>
            </a:r>
          </a:p>
        </p:txBody>
      </p:sp>
      <p:sp>
        <p:nvSpPr>
          <p:cNvPr id="52" name="Shape"/>
          <p:cNvSpPr/>
          <p:nvPr/>
        </p:nvSpPr>
        <p:spPr>
          <a:xfrm>
            <a:off x="9860000" y="4080000"/>
            <a:ext cx="28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3" name="Cell"/>
          <p:cNvSpPr txBox="1"/>
          <p:nvPr/>
        </p:nvSpPr>
        <p:spPr>
          <a:xfrm>
            <a:off x="9900000" y="412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0.7778</a:t>
            </a:r>
          </a:p>
        </p:txBody>
      </p:sp>
      <p:sp>
        <p:nvSpPr>
          <p:cNvPr id="54" name="Shape"/>
          <p:cNvSpPr/>
          <p:nvPr/>
        </p:nvSpPr>
        <p:spPr>
          <a:xfrm>
            <a:off x="630000" y="4620000"/>
            <a:ext cx="44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5" name="Cell"/>
          <p:cNvSpPr txBox="1"/>
          <p:nvPr/>
        </p:nvSpPr>
        <p:spPr>
          <a:xfrm>
            <a:off x="670000" y="466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Runpod highrank v1</a:t>
            </a:r>
          </a:p>
        </p:txBody>
      </p:sp>
      <p:sp>
        <p:nvSpPr>
          <p:cNvPr id="56" name="Shape"/>
          <p:cNvSpPr/>
          <p:nvPr/>
        </p:nvSpPr>
        <p:spPr>
          <a:xfrm>
            <a:off x="5080000" y="462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7" name="Cell"/>
          <p:cNvSpPr txBox="1"/>
          <p:nvPr/>
        </p:nvSpPr>
        <p:spPr>
          <a:xfrm>
            <a:off x="5120000" y="46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0.8538</a:t>
            </a:r>
          </a:p>
        </p:txBody>
      </p:sp>
      <p:sp>
        <p:nvSpPr>
          <p:cNvPr id="58" name="Shape"/>
          <p:cNvSpPr/>
          <p:nvPr/>
        </p:nvSpPr>
        <p:spPr>
          <a:xfrm>
            <a:off x="7470000" y="462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9" name="Cell"/>
          <p:cNvSpPr txBox="1"/>
          <p:nvPr/>
        </p:nvSpPr>
        <p:spPr>
          <a:xfrm>
            <a:off x="7510000" y="46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0.9029</a:t>
            </a:r>
          </a:p>
        </p:txBody>
      </p:sp>
      <p:sp>
        <p:nvSpPr>
          <p:cNvPr id="60" name="Shape"/>
          <p:cNvSpPr/>
          <p:nvPr/>
        </p:nvSpPr>
        <p:spPr>
          <a:xfrm>
            <a:off x="9860000" y="4620000"/>
            <a:ext cx="28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1" name="Cell"/>
          <p:cNvSpPr txBox="1"/>
          <p:nvPr/>
        </p:nvSpPr>
        <p:spPr>
          <a:xfrm>
            <a:off x="9900000" y="466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0.6667</a:t>
            </a:r>
          </a:p>
        </p:txBody>
      </p:sp>
      <p:sp>
        <p:nvSpPr>
          <p:cNvPr id="80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CIPC strongly improves over prompt and direct API baselines, but the frontier still trades off stability and revision.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Loss Redesign Findings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30000" y="1380000"/>
            <a:ext cx="445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Cell"/>
          <p:cNvSpPr txBox="1"/>
          <p:nvPr/>
        </p:nvSpPr>
        <p:spPr>
          <a:xfrm>
            <a:off x="670000" y="142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8" name="Shape"/>
          <p:cNvSpPr/>
          <p:nvPr/>
        </p:nvSpPr>
        <p:spPr>
          <a:xfrm>
            <a:off x="5080000" y="1380000"/>
            <a:ext cx="239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Cell"/>
          <p:cNvSpPr txBox="1"/>
          <p:nvPr/>
        </p:nvSpPr>
        <p:spPr>
          <a:xfrm>
            <a:off x="5120000" y="14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10" name="Shape"/>
          <p:cNvSpPr/>
          <p:nvPr/>
        </p:nvSpPr>
        <p:spPr>
          <a:xfrm>
            <a:off x="7470000" y="1380000"/>
            <a:ext cx="239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Cell"/>
          <p:cNvSpPr txBox="1"/>
          <p:nvPr/>
        </p:nvSpPr>
        <p:spPr>
          <a:xfrm>
            <a:off x="7510000" y="142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Overturn</a:t>
            </a:r>
          </a:p>
        </p:txBody>
      </p:sp>
      <p:sp>
        <p:nvSpPr>
          <p:cNvPr id="12" name="Shape"/>
          <p:cNvSpPr/>
          <p:nvPr/>
        </p:nvSpPr>
        <p:spPr>
          <a:xfrm>
            <a:off x="9860000" y="1380000"/>
            <a:ext cx="2850000" cy="540000"/>
          </a:xfrm>
          <a:prstGeom prst="rect">
            <a:avLst/>
          </a:prstGeom>
          <a:solidFill>
            <a:srgbClr val="203A43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Cell"/>
          <p:cNvSpPr txBox="1"/>
          <p:nvPr/>
        </p:nvSpPr>
        <p:spPr>
          <a:xfrm>
            <a:off x="9900000" y="142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No-overturn</a:t>
            </a:r>
          </a:p>
        </p:txBody>
      </p:sp>
      <p:sp>
        <p:nvSpPr>
          <p:cNvPr id="14" name="Shape"/>
          <p:cNvSpPr/>
          <p:nvPr/>
        </p:nvSpPr>
        <p:spPr>
          <a:xfrm>
            <a:off x="630000" y="1920000"/>
            <a:ext cx="44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ell"/>
          <p:cNvSpPr txBox="1"/>
          <p:nvPr/>
        </p:nvSpPr>
        <p:spPr>
          <a:xfrm>
            <a:off x="670000" y="196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conditional_consistency_v1</a:t>
            </a:r>
          </a:p>
        </p:txBody>
      </p:sp>
      <p:sp>
        <p:nvSpPr>
          <p:cNvPr id="16" name="Shape"/>
          <p:cNvSpPr/>
          <p:nvPr/>
        </p:nvSpPr>
        <p:spPr>
          <a:xfrm>
            <a:off x="5080000" y="192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Cell"/>
          <p:cNvSpPr txBox="1"/>
          <p:nvPr/>
        </p:nvSpPr>
        <p:spPr>
          <a:xfrm>
            <a:off x="5120000" y="19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0.8923</a:t>
            </a:r>
          </a:p>
        </p:txBody>
      </p:sp>
      <p:sp>
        <p:nvSpPr>
          <p:cNvPr id="18" name="Shape"/>
          <p:cNvSpPr/>
          <p:nvPr/>
        </p:nvSpPr>
        <p:spPr>
          <a:xfrm>
            <a:off x="7470000" y="192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Cell"/>
          <p:cNvSpPr txBox="1"/>
          <p:nvPr/>
        </p:nvSpPr>
        <p:spPr>
          <a:xfrm>
            <a:off x="7510000" y="196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0.9806</a:t>
            </a:r>
          </a:p>
        </p:txBody>
      </p:sp>
      <p:sp>
        <p:nvSpPr>
          <p:cNvPr id="20" name="Shape"/>
          <p:cNvSpPr/>
          <p:nvPr/>
        </p:nvSpPr>
        <p:spPr>
          <a:xfrm>
            <a:off x="9860000" y="1920000"/>
            <a:ext cx="28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Cell"/>
          <p:cNvSpPr txBox="1"/>
          <p:nvPr/>
        </p:nvSpPr>
        <p:spPr>
          <a:xfrm>
            <a:off x="9900000" y="196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0.5556</a:t>
            </a:r>
          </a:p>
        </p:txBody>
      </p:sp>
      <p:sp>
        <p:nvSpPr>
          <p:cNvPr id="22" name="Shape"/>
          <p:cNvSpPr/>
          <p:nvPr/>
        </p:nvSpPr>
        <p:spPr>
          <a:xfrm>
            <a:off x="630000" y="2460000"/>
            <a:ext cx="44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Cell"/>
          <p:cNvSpPr txBox="1"/>
          <p:nvPr/>
        </p:nvSpPr>
        <p:spPr>
          <a:xfrm>
            <a:off x="670000" y="250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preserve_margin_v1</a:t>
            </a:r>
          </a:p>
        </p:txBody>
      </p:sp>
      <p:sp>
        <p:nvSpPr>
          <p:cNvPr id="24" name="Shape"/>
          <p:cNvSpPr/>
          <p:nvPr/>
        </p:nvSpPr>
        <p:spPr>
          <a:xfrm>
            <a:off x="5080000" y="246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Cell"/>
          <p:cNvSpPr txBox="1"/>
          <p:nvPr/>
        </p:nvSpPr>
        <p:spPr>
          <a:xfrm>
            <a:off x="5120000" y="250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0.8077</a:t>
            </a:r>
          </a:p>
        </p:txBody>
      </p:sp>
      <p:sp>
        <p:nvSpPr>
          <p:cNvPr id="26" name="Shape"/>
          <p:cNvSpPr/>
          <p:nvPr/>
        </p:nvSpPr>
        <p:spPr>
          <a:xfrm>
            <a:off x="7470000" y="246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Cell"/>
          <p:cNvSpPr txBox="1"/>
          <p:nvPr/>
        </p:nvSpPr>
        <p:spPr>
          <a:xfrm>
            <a:off x="7510000" y="250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0.8350</a:t>
            </a:r>
          </a:p>
        </p:txBody>
      </p:sp>
      <p:sp>
        <p:nvSpPr>
          <p:cNvPr id="28" name="Shape"/>
          <p:cNvSpPr/>
          <p:nvPr/>
        </p:nvSpPr>
        <p:spPr>
          <a:xfrm>
            <a:off x="9860000" y="2460000"/>
            <a:ext cx="28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Cell"/>
          <p:cNvSpPr txBox="1"/>
          <p:nvPr/>
        </p:nvSpPr>
        <p:spPr>
          <a:xfrm>
            <a:off x="9900000" y="250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0.7037</a:t>
            </a:r>
          </a:p>
        </p:txBody>
      </p:sp>
      <p:sp>
        <p:nvSpPr>
          <p:cNvPr id="30" name="Shape"/>
          <p:cNvSpPr/>
          <p:nvPr/>
        </p:nvSpPr>
        <p:spPr>
          <a:xfrm>
            <a:off x="630000" y="3000000"/>
            <a:ext cx="44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Cell"/>
          <p:cNvSpPr txBox="1"/>
          <p:nvPr/>
        </p:nvSpPr>
        <p:spPr>
          <a:xfrm>
            <a:off x="670000" y="304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preserve_hybrid_v1</a:t>
            </a:r>
          </a:p>
        </p:txBody>
      </p:sp>
      <p:sp>
        <p:nvSpPr>
          <p:cNvPr id="32" name="Shape"/>
          <p:cNvSpPr/>
          <p:nvPr/>
        </p:nvSpPr>
        <p:spPr>
          <a:xfrm>
            <a:off x="5080000" y="300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Cell"/>
          <p:cNvSpPr txBox="1"/>
          <p:nvPr/>
        </p:nvSpPr>
        <p:spPr>
          <a:xfrm>
            <a:off x="5120000" y="304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0.8615</a:t>
            </a:r>
          </a:p>
        </p:txBody>
      </p:sp>
      <p:sp>
        <p:nvSpPr>
          <p:cNvPr id="34" name="Shape"/>
          <p:cNvSpPr/>
          <p:nvPr/>
        </p:nvSpPr>
        <p:spPr>
          <a:xfrm>
            <a:off x="7470000" y="3000000"/>
            <a:ext cx="239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Cell"/>
          <p:cNvSpPr txBox="1"/>
          <p:nvPr/>
        </p:nvSpPr>
        <p:spPr>
          <a:xfrm>
            <a:off x="7510000" y="304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0.9223</a:t>
            </a:r>
          </a:p>
        </p:txBody>
      </p:sp>
      <p:sp>
        <p:nvSpPr>
          <p:cNvPr id="36" name="Shape"/>
          <p:cNvSpPr/>
          <p:nvPr/>
        </p:nvSpPr>
        <p:spPr>
          <a:xfrm>
            <a:off x="9860000" y="3000000"/>
            <a:ext cx="2850000" cy="540000"/>
          </a:xfrm>
          <a:prstGeom prst="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Cell"/>
          <p:cNvSpPr txBox="1"/>
          <p:nvPr/>
        </p:nvSpPr>
        <p:spPr>
          <a:xfrm>
            <a:off x="9900000" y="304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0.6296</a:t>
            </a:r>
          </a:p>
        </p:txBody>
      </p:sp>
      <p:sp>
        <p:nvSpPr>
          <p:cNvPr id="38" name="Shape"/>
          <p:cNvSpPr/>
          <p:nvPr/>
        </p:nvSpPr>
        <p:spPr>
          <a:xfrm>
            <a:off x="630000" y="3540000"/>
            <a:ext cx="44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Cell"/>
          <p:cNvSpPr txBox="1"/>
          <p:nvPr/>
        </p:nvSpPr>
        <p:spPr>
          <a:xfrm>
            <a:off x="670000" y="3585000"/>
            <a:ext cx="43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preserve_hybrid_v2</a:t>
            </a:r>
          </a:p>
        </p:txBody>
      </p:sp>
      <p:sp>
        <p:nvSpPr>
          <p:cNvPr id="40" name="Shape"/>
          <p:cNvSpPr/>
          <p:nvPr/>
        </p:nvSpPr>
        <p:spPr>
          <a:xfrm>
            <a:off x="5080000" y="354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Cell"/>
          <p:cNvSpPr txBox="1"/>
          <p:nvPr/>
        </p:nvSpPr>
        <p:spPr>
          <a:xfrm>
            <a:off x="5120000" y="358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0.8615</a:t>
            </a:r>
          </a:p>
        </p:txBody>
      </p:sp>
      <p:sp>
        <p:nvSpPr>
          <p:cNvPr id="42" name="Shape"/>
          <p:cNvSpPr/>
          <p:nvPr/>
        </p:nvSpPr>
        <p:spPr>
          <a:xfrm>
            <a:off x="7470000" y="3540000"/>
            <a:ext cx="239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Cell"/>
          <p:cNvSpPr txBox="1"/>
          <p:nvPr/>
        </p:nvSpPr>
        <p:spPr>
          <a:xfrm>
            <a:off x="7510000" y="3585000"/>
            <a:ext cx="231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0.9515</a:t>
            </a:r>
          </a:p>
        </p:txBody>
      </p:sp>
      <p:sp>
        <p:nvSpPr>
          <p:cNvPr id="44" name="Shape"/>
          <p:cNvSpPr/>
          <p:nvPr/>
        </p:nvSpPr>
        <p:spPr>
          <a:xfrm>
            <a:off x="9860000" y="3540000"/>
            <a:ext cx="2850000" cy="540000"/>
          </a:xfrm>
          <a:prstGeom prst="rect">
            <a:avLst/>
          </a:prstGeom>
          <a:solidFill>
            <a:srgbClr val="F5F7FA"/>
          </a:solidFill>
          <a:ln w="12000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Cell"/>
          <p:cNvSpPr txBox="1"/>
          <p:nvPr/>
        </p:nvSpPr>
        <p:spPr>
          <a:xfrm>
            <a:off x="9900000" y="3585000"/>
            <a:ext cx="277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ctr"/>
            <a:r>
              <a:rPr lang="en-US" sz="1500">
                <a:solidFill>
                  <a:srgbClr val="1F2937"/>
                </a:solidFill>
              </a:rPr>
              <a:t>0.5185</a:t>
            </a:r>
          </a:p>
        </p:txBody>
      </p:sp>
      <p:sp>
        <p:nvSpPr>
          <p:cNvPr id="80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Preserve-side structure matters, but the current hybrid objective is not the final repair.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Expected Effect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A successful model should revise on true overturn cases instead of preserving stale commitments.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It should remain stable on no-overturn cases instead of treating every new premise as a correction.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Control decisions should align with final answers, reducing propagation failures.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The next target is a new Pareto point: high overturn accuracy with materially better no-overturn accuracy.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Success means calibrated behavior, not simply more aggressive revision.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Current Conclusion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The task is not solved by direct prompting of stronger external models.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The CIPC training formulation is effective and outperforms frozen prompt baselines.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The remaining bottleneck is objective shape, not data access, infrastructure, checkpointing, or simple sampling.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Preserve-side supervision needs a new form beyond plain CE, pure margin, or the current CE+margin hybrid.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We now have a focused method-design problem with clear baselines and diagnostics.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3333333" cy="5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80000" y="85000"/>
            <a:ext cx="10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Shape"/>
          <p:cNvSpPr/>
          <p:nvPr/>
        </p:nvSpPr>
        <p:spPr>
          <a:xfrm>
            <a:off x="0" y="520000"/>
            <a:ext cx="13333333" cy="5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ullets"/>
          <p:cNvSpPr txBox="1"/>
          <p:nvPr/>
        </p:nvSpPr>
        <p:spPr>
          <a:xfrm>
            <a:off x="720000" y="1200000"/>
            <a:ext cx="11800000" cy="488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0000" rIns="100000" bIns="60000"/>
          <a:lstStyle/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Design a new preserve-side objective form rather than repeating scalar weight sweeps.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Keep split preserve/replace aggregation to avoid replace examples dominating the loss.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Compare the next run against highrank_v1, tradeoff_repair_v2, preserve_margin_v1, and preserve_hybrid variants.</a:t>
            </a:r>
          </a:p>
          <a:p>
            <a:pPr marL="280000" indent="-160000"/>
            <a:r>
              <a:rPr lang="en-US" sz="2350">
                <a:solidFill>
                  <a:srgbClr val="1F2937"/>
                </a:solidFill>
              </a:rPr>
              <a:t>• Target: overturn near 0.90 while lifting no-overturn clearly above the current 0.6667 aggressive anchor.</a:t>
            </a:r>
          </a:p>
        </p:txBody>
      </p:sp>
      <p:sp>
        <p:nvSpPr>
          <p:cNvPr id="7" name="Takeaway"/>
          <p:cNvSpPr txBox="1"/>
          <p:nvPr/>
        </p:nvSpPr>
        <p:spPr>
          <a:xfrm>
            <a:off x="610000" y="6520000"/>
            <a:ext cx="12100000" cy="50000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txBody>
          <a:bodyPr wrap="square" lIns="120000" tIns="80000" rIns="120000" bIns="80000"/>
          <a:lstStyle/>
          <a:p>
            <a:pPr algn="l"/>
            <a:r>
              <a:rPr lang="en-US" sz="1700" b="1">
                <a:solidFill>
                  <a:srgbClr val="203A43"/>
                </a:solidFill>
              </a:rPr>
              <a:t>Takeaway: The next contribution should come from loss geometry, especially preserve-side influence.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Source-Aware Belief Revision Advisor Stage Report</dc:title>
  <dc:creator>Codex</dc:creator>
  <cp:lastModifiedBy>Codex</cp:lastModifiedBy>
  <dcterms:created xsi:type="dcterms:W3CDTF">2026-04-20T00:00:00Z</dcterms:created>
  <dcterms:modified xsi:type="dcterms:W3CDTF">2026-04-20T00:00:00Z</dcterms:modified>
</cp:coreProperties>
</file>